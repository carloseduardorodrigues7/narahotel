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1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A824-1A51-4B26-AD58-A6D8E14F6C04}" type="datetimeFigureOut">
              <a:rPr lang="en-US" dirty="0"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dirty="0"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dirty="0"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dirty="0"/>
              <a:t>9/21/2026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0E46F-7819-4ACF-B48B-48222C2ACC88}" type="datetimeFigureOut">
              <a:rPr lang="en-US" dirty="0"/>
              <a:t>9/21/2026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dirty="0"/>
              <a:t>9/21/2026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dirty="0"/>
              <a:t>9/21/2026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dirty="0"/>
              <a:t>9/21/2026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dirty="0"/>
              <a:t>9/21/2026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dirty="0"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dirty="0"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3CBC1C18-307B-4F68-A007-B5B542270E8D}" type="datetimeFigureOut">
              <a:rPr lang="en-US" dirty="0"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44488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5D309A-D38C-E6D6-9406-5032B80610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Nara </a:t>
            </a:r>
            <a:r>
              <a:rPr lang="pt-BR" dirty="0" err="1"/>
              <a:t>Hoteis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369CF64-41A4-DC42-A96C-1405F7419D8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Avaliação rede</a:t>
            </a:r>
          </a:p>
        </p:txBody>
      </p:sp>
    </p:spTree>
    <p:extLst>
      <p:ext uri="{BB962C8B-B14F-4D97-AF65-F5344CB8AC3E}">
        <p14:creationId xmlns:p14="http://schemas.microsoft.com/office/powerpoint/2010/main" val="1463259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FBC387-E7E3-D274-9F9E-59492CAF3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802" y="5115024"/>
            <a:ext cx="10169818" cy="1077229"/>
          </a:xfrm>
        </p:spPr>
        <p:txBody>
          <a:bodyPr>
            <a:noAutofit/>
          </a:bodyPr>
          <a:lstStyle/>
          <a:p>
            <a:pPr algn="ctr"/>
            <a:r>
              <a:rPr lang="pt-BR" sz="1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 faturamento da rede está concentrado nas praças de lazer (Serra e Costa Verde</a:t>
            </a:r>
            <a:br>
              <a:rPr lang="pt-BR" sz="1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pt-BR" sz="1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com diárias altas. O principal desafio comercial é reavaliar o modelo de precificação das unidades centrais (Centro e Nova Iguaçu) e acelerar a tração de ocupação da recém-inaugurada Copacabana Premium ( que se destaca positivamente no valor da diária) para capitalizar o seu alto valor de diária.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E542779-A857-6366-30CD-0A0FE9C9A6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7802" y="1020789"/>
            <a:ext cx="9929625" cy="3727673"/>
          </a:xfr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35137C3B-58A7-9F09-402F-EC9ED6EAC9DB}"/>
              </a:ext>
            </a:extLst>
          </p:cNvPr>
          <p:cNvSpPr txBox="1">
            <a:spLocks/>
          </p:cNvSpPr>
          <p:nvPr/>
        </p:nvSpPr>
        <p:spPr>
          <a:xfrm>
            <a:off x="1011091" y="5115024"/>
            <a:ext cx="10169818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b="0" i="0" kern="1200" cap="none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endParaRPr lang="pt-BR" dirty="0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EA52D85C-1CF9-37AA-2948-E53A3A60C86A}"/>
              </a:ext>
            </a:extLst>
          </p:cNvPr>
          <p:cNvSpPr txBox="1">
            <a:spLocks/>
          </p:cNvSpPr>
          <p:nvPr/>
        </p:nvSpPr>
        <p:spPr>
          <a:xfrm>
            <a:off x="1109446" y="127133"/>
            <a:ext cx="10169818" cy="85114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b="0" i="0" kern="1200" cap="none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3200" dirty="0">
                <a:solidFill>
                  <a:srgbClr val="CCCCCC"/>
                </a:solidFill>
                <a:latin typeface="Consolas" panose="020B0609020204030204" pitchFamily="49" charset="0"/>
              </a:rPr>
              <a:t>Faturamento total e comportamento das diárias</a:t>
            </a:r>
          </a:p>
        </p:txBody>
      </p:sp>
    </p:spTree>
    <p:extLst>
      <p:ext uri="{BB962C8B-B14F-4D97-AF65-F5344CB8AC3E}">
        <p14:creationId xmlns:p14="http://schemas.microsoft.com/office/powerpoint/2010/main" val="2219820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830E43-EAF9-E45B-E70C-F4C72462B6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682" y="39838"/>
            <a:ext cx="10237918" cy="746226"/>
          </a:xfrm>
        </p:spPr>
        <p:txBody>
          <a:bodyPr/>
          <a:lstStyle/>
          <a:p>
            <a:pPr algn="ctr"/>
            <a:r>
              <a:rPr lang="pt-BR" dirty="0"/>
              <a:t>Unidades operando além de sua capacidade</a:t>
            </a: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D83F64F2-EF0F-76A0-4482-C07BC8D404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1981" y="786064"/>
            <a:ext cx="8913319" cy="4347625"/>
          </a:xfrm>
        </p:spPr>
      </p:pic>
      <p:sp>
        <p:nvSpPr>
          <p:cNvPr id="9" name="Título 1">
            <a:extLst>
              <a:ext uri="{FF2B5EF4-FFF2-40B4-BE49-F238E27FC236}">
                <a16:creationId xmlns:a16="http://schemas.microsoft.com/office/drawing/2014/main" id="{582475B5-D788-F28D-8D5E-E7EF9AF2A2B9}"/>
              </a:ext>
            </a:extLst>
          </p:cNvPr>
          <p:cNvSpPr txBox="1">
            <a:spLocks/>
          </p:cNvSpPr>
          <p:nvPr/>
        </p:nvSpPr>
        <p:spPr>
          <a:xfrm>
            <a:off x="977041" y="5506802"/>
            <a:ext cx="10237918" cy="74622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55000" lnSpcReduction="20000"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b="0" i="0" kern="1200" cap="none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dirty="0"/>
              <a:t>Unidades Centro e Nova Iguaçu apresentam uma porcentagem de superlotação.</a:t>
            </a:r>
            <a:br>
              <a:rPr lang="pt-BR" dirty="0"/>
            </a:br>
            <a:r>
              <a:rPr lang="pt-BR" dirty="0"/>
              <a:t>São unidades que caracterizam um giro alto, operação pesada e faturamento médio baixo.</a:t>
            </a:r>
          </a:p>
          <a:p>
            <a:pPr algn="ctr"/>
            <a:r>
              <a:rPr lang="pt-BR" dirty="0"/>
              <a:t>Refletindo em uma avaliação de experiência do cliente baixa, veremos a seguir...</a:t>
            </a:r>
          </a:p>
        </p:txBody>
      </p:sp>
    </p:spTree>
    <p:extLst>
      <p:ext uri="{BB962C8B-B14F-4D97-AF65-F5344CB8AC3E}">
        <p14:creationId xmlns:p14="http://schemas.microsoft.com/office/powerpoint/2010/main" val="8665708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CD1E74-D264-C4D0-B88F-4096772B4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682" y="26503"/>
            <a:ext cx="10302086" cy="583098"/>
          </a:xfrm>
        </p:spPr>
        <p:txBody>
          <a:bodyPr/>
          <a:lstStyle/>
          <a:p>
            <a:pPr algn="ctr"/>
            <a:r>
              <a:rPr lang="pt-BR" dirty="0"/>
              <a:t>Desempenho e Discrepâncias por Unidade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E871ABBF-47AD-4D17-E10B-3D6786B46B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63104" y="755381"/>
            <a:ext cx="8665792" cy="3696903"/>
          </a:xfr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F4B0FCDF-2528-9E1C-7114-4EE0E7CB0C53}"/>
              </a:ext>
            </a:extLst>
          </p:cNvPr>
          <p:cNvSpPr txBox="1"/>
          <p:nvPr/>
        </p:nvSpPr>
        <p:spPr>
          <a:xfrm>
            <a:off x="1039682" y="4853800"/>
            <a:ext cx="1030208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/>
              <a:t>⚠️ Unidades Centro (Alto Esforço, Baixo Retorno): Lideram no volume de reservas (424 a 478), mas possuem o pior Faturamento Médio (cerca de R$ 1.000), indicando muito trabalho para pouca rentabilidade.</a:t>
            </a:r>
          </a:p>
          <a:p>
            <a:endParaRPr lang="pt-BR" sz="1200" dirty="0"/>
          </a:p>
          <a:p>
            <a:r>
              <a:rPr lang="pt-BR" sz="1200" dirty="0"/>
              <a:t>📈 Copacabana Premium (Em Maturação): Faturamento Total é o menor da rede devido à falta de volume (apenas 130 reservas, por ser recém-inaugurada), mas o Faturamento Médio é excelente (R$ 2.296).</a:t>
            </a:r>
          </a:p>
          <a:p>
            <a:endParaRPr lang="pt-BR" sz="1200" dirty="0"/>
          </a:p>
          <a:p>
            <a:r>
              <a:rPr lang="pt-BR" sz="1200" dirty="0"/>
              <a:t>🏆 Ecossistema de Lazer (Padrão de Sucesso): Paraty, Friburgo e Mangaratiba são o modelo ideal de negócios da rede. Elas equilibram um volume saudável (350 a 380 reservas) com Faturamentos Médios altos e robustos (acima de R$ 2.300).</a:t>
            </a:r>
          </a:p>
        </p:txBody>
      </p:sp>
    </p:spTree>
    <p:extLst>
      <p:ext uri="{BB962C8B-B14F-4D97-AF65-F5344CB8AC3E}">
        <p14:creationId xmlns:p14="http://schemas.microsoft.com/office/powerpoint/2010/main" val="42199178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70488B-72F7-60A7-D545-889CA28FD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682" y="83550"/>
            <a:ext cx="10286044" cy="1077229"/>
          </a:xfrm>
        </p:spPr>
        <p:txBody>
          <a:bodyPr/>
          <a:lstStyle/>
          <a:p>
            <a:pPr algn="ctr"/>
            <a:r>
              <a:rPr lang="pt-BR" dirty="0"/>
              <a:t>Relação </a:t>
            </a:r>
            <a:r>
              <a:rPr lang="pt-BR" dirty="0" err="1"/>
              <a:t>RevPar</a:t>
            </a:r>
            <a:r>
              <a:rPr lang="pt-BR" dirty="0"/>
              <a:t> </a:t>
            </a:r>
            <a:r>
              <a:rPr lang="pt-BR" dirty="0" err="1"/>
              <a:t>vs</a:t>
            </a:r>
            <a:r>
              <a:rPr lang="pt-BR" dirty="0"/>
              <a:t> Avaliação dos hospedes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3EDA6DE-9BE4-480B-C366-CB95B4FAE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3157" y="750226"/>
            <a:ext cx="7951918" cy="4763077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1A9E4208-8518-E942-DDCC-4A8054602EFF}"/>
              </a:ext>
            </a:extLst>
          </p:cNvPr>
          <p:cNvSpPr txBox="1">
            <a:spLocks/>
          </p:cNvSpPr>
          <p:nvPr/>
        </p:nvSpPr>
        <p:spPr>
          <a:xfrm>
            <a:off x="1151977" y="5729505"/>
            <a:ext cx="10286044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b="0" i="0" kern="1200" cap="none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1800" dirty="0"/>
              <a:t>Existe uma relação entre a avaliação e o </a:t>
            </a:r>
            <a:r>
              <a:rPr lang="pt-BR" sz="1800" dirty="0" err="1"/>
              <a:t>RevPar</a:t>
            </a:r>
            <a:r>
              <a:rPr lang="pt-BR" sz="1800" dirty="0"/>
              <a:t>, mas não forte suficiente para uma analise preditiva. Existem unidades com boa avaliação e faturamento reduzido.</a:t>
            </a:r>
          </a:p>
        </p:txBody>
      </p:sp>
    </p:spTree>
    <p:extLst>
      <p:ext uri="{BB962C8B-B14F-4D97-AF65-F5344CB8AC3E}">
        <p14:creationId xmlns:p14="http://schemas.microsoft.com/office/powerpoint/2010/main" val="10800994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07CB5F-9BB5-6011-E196-9D7406A2D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724" y="0"/>
            <a:ext cx="10302087" cy="1077229"/>
          </a:xfrm>
        </p:spPr>
        <p:txBody>
          <a:bodyPr/>
          <a:lstStyle/>
          <a:p>
            <a:pPr algn="ctr"/>
            <a:r>
              <a:rPr lang="pt-BR" dirty="0"/>
              <a:t>É possível estimar o </a:t>
            </a:r>
            <a:r>
              <a:rPr lang="pt-BR" dirty="0" err="1"/>
              <a:t>RevPar</a:t>
            </a:r>
            <a:r>
              <a:rPr lang="pt-BR" dirty="0"/>
              <a:t> por uma avaliação media?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88D1340-A4DC-97C2-E75F-A74AA565A7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7188" y="1237651"/>
            <a:ext cx="7077623" cy="4115728"/>
          </a:xfrm>
          <a:prstGeom prst="rect">
            <a:avLst/>
          </a:prstGeo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295F0450-2D64-69A7-D6A5-DBA21E541E47}"/>
              </a:ext>
            </a:extLst>
          </p:cNvPr>
          <p:cNvSpPr txBox="1">
            <a:spLocks/>
          </p:cNvSpPr>
          <p:nvPr/>
        </p:nvSpPr>
        <p:spPr>
          <a:xfrm>
            <a:off x="944955" y="5567539"/>
            <a:ext cx="10302087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b="0" i="0" kern="1200" cap="none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pt-B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Com base nos dados históricos, não é possível prever o </a:t>
            </a:r>
            <a:r>
              <a:rPr lang="pt-BR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RevPAR</a:t>
            </a:r>
            <a:r>
              <a:rPr lang="pt-B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de forma segura usando apenas a nota de avaliação. Embora o ecossistema de lazer prove que notas altas impulsionam o faturamento, anomalias comerciais graves na rede (como o baixo volume na Barra da Tijuca e o modelo de alto giro/baixa qualidade no Centro) quebram essa correlação direta.</a:t>
            </a:r>
          </a:p>
        </p:txBody>
      </p:sp>
    </p:spTree>
    <p:extLst>
      <p:ext uri="{BB962C8B-B14F-4D97-AF65-F5344CB8AC3E}">
        <p14:creationId xmlns:p14="http://schemas.microsoft.com/office/powerpoint/2010/main" val="10349010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3C0739-D601-8BD2-0D23-6C0B1DE9F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597" y="43146"/>
            <a:ext cx="10350214" cy="678750"/>
          </a:xfrm>
        </p:spPr>
        <p:txBody>
          <a:bodyPr/>
          <a:lstStyle/>
          <a:p>
            <a:pPr algn="ctr"/>
            <a:r>
              <a:rPr lang="pt-BR" dirty="0"/>
              <a:t>Regiões com maior variabilidade de faturamento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13145AFC-BF8F-7C5B-C073-AD9988480A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95229" y="870651"/>
            <a:ext cx="9001542" cy="4455308"/>
          </a:xfr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AB4746A3-96A8-A7D8-1346-4CD183E54743}"/>
              </a:ext>
            </a:extLst>
          </p:cNvPr>
          <p:cNvSpPr txBox="1">
            <a:spLocks/>
          </p:cNvSpPr>
          <p:nvPr/>
        </p:nvSpPr>
        <p:spPr>
          <a:xfrm>
            <a:off x="1007597" y="5647974"/>
            <a:ext cx="10350214" cy="9934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b="0" i="0" kern="1200" cap="none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1400" b="1" dirty="0"/>
              <a:t>Serra e Costa Verde (Alta Variabilidade):</a:t>
            </a:r>
            <a:r>
              <a:rPr lang="pt-BR" sz="1400" dirty="0"/>
              <a:t> Apresentam as maiores variações, com picos de faturamento batendo R$ 10.000 a R$ 12.000</a:t>
            </a:r>
          </a:p>
          <a:p>
            <a:pPr algn="ctr"/>
            <a:r>
              <a:rPr lang="pt-BR" sz="1400" b="1" dirty="0"/>
              <a:t>Capital (Giro Rápido e Eficiência):</a:t>
            </a:r>
            <a:r>
              <a:rPr lang="pt-BR" sz="1400" dirty="0"/>
              <a:t> Possui um volume gigante de reservas com menor variação de preços, focado em um hóspede de perfil prático (trabalho/estadias curtas)</a:t>
            </a:r>
          </a:p>
          <a:p>
            <a:pPr algn="ctr"/>
            <a:r>
              <a:rPr lang="pt-BR" sz="1400" b="1" dirty="0"/>
              <a:t>Baixada Fluminense (Necessidade de Inovação):</a:t>
            </a:r>
            <a:r>
              <a:rPr lang="pt-BR" sz="1400" dirty="0"/>
              <a:t> Apresenta a menor média de gastos, com o cliente consumindo estritamente o quarto básico.</a:t>
            </a:r>
            <a:endParaRPr lang="pt-BR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58619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1B0F3F-E479-029F-CB95-B9DD5A4ED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6695" y="269441"/>
            <a:ext cx="10266947" cy="1077229"/>
          </a:xfrm>
        </p:spPr>
        <p:txBody>
          <a:bodyPr/>
          <a:lstStyle/>
          <a:p>
            <a:pPr algn="ctr"/>
            <a:r>
              <a:rPr lang="pt-BR" dirty="0"/>
              <a:t>Copacabana Premium!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9BFD566-B91A-BC6C-B009-501A6E421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3789" y="1346670"/>
            <a:ext cx="9126350" cy="4703274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Diagnóstico: Copacabana Premium</a:t>
            </a:r>
            <a:endParaRPr lang="pt-BR" dirty="0"/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💎 </a:t>
            </a:r>
            <a:r>
              <a:rPr lang="pt-BR" b="1" dirty="0"/>
              <a:t>Preço Validado:</a:t>
            </a:r>
            <a:r>
              <a:rPr lang="pt-BR" dirty="0"/>
              <a:t> O mercado aceitou o posicionamento de luxo (5 estrelas), sustentando uma alta mediana de faturamento (R$ 1.900 por reserva) sem depreciar a diária.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📉 </a:t>
            </a:r>
            <a:r>
              <a:rPr lang="pt-BR" b="1" dirty="0"/>
              <a:t>Gargalo de Volume:</a:t>
            </a:r>
            <a:r>
              <a:rPr lang="pt-BR" dirty="0"/>
              <a:t> Por ser recém-inaugurada, a unidade sofre com baixíssima tração (apenas 130 reservas). Isso derruba o </a:t>
            </a:r>
            <a:r>
              <a:rPr lang="pt-BR" dirty="0" err="1"/>
              <a:t>RevPAR</a:t>
            </a:r>
            <a:r>
              <a:rPr lang="pt-BR" dirty="0"/>
              <a:t> e indica que o hotel é caro, mas vive de quartos vazios.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⚠️ </a:t>
            </a:r>
            <a:r>
              <a:rPr lang="pt-BR" b="1" dirty="0"/>
              <a:t>Alerta na Avaliação:</a:t>
            </a:r>
            <a:r>
              <a:rPr lang="pt-BR" dirty="0"/>
              <a:t> A nota média de 7,08 é perigosa para um produto "Premium". O hóspede paga um preço alto, mas sente que a entrega da operação não justifica o custo (em comparação com as unidades de lazer que beiram a nota 8,0).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079306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306CEA-0369-FFDE-DC16-94B044D02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724" y="0"/>
            <a:ext cx="10302087" cy="1077229"/>
          </a:xfrm>
        </p:spPr>
        <p:txBody>
          <a:bodyPr/>
          <a:lstStyle/>
          <a:p>
            <a:pPr algn="ctr"/>
            <a:r>
              <a:rPr lang="pt-BR" dirty="0"/>
              <a:t>Situação da rede Nara Hotel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C30E1C5E-F29A-F0F2-4988-6B4DEDAD4C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53941" y="803187"/>
            <a:ext cx="7344038" cy="4212859"/>
          </a:xfr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DAC33DB3-D50A-F270-E5B1-C4E19919BF6E}"/>
              </a:ext>
            </a:extLst>
          </p:cNvPr>
          <p:cNvSpPr txBox="1"/>
          <p:nvPr/>
        </p:nvSpPr>
        <p:spPr>
          <a:xfrm>
            <a:off x="1055723" y="5149840"/>
            <a:ext cx="10302087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 rede Nara </a:t>
            </a:r>
            <a:r>
              <a:rPr lang="pt-BR" sz="14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Hoteis</a:t>
            </a:r>
            <a:r>
              <a:rPr lang="pt-B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demonstrou uma trajetória de crescimento saudável e contínua entre 2023 e 2025. As unidades historicamente tidas como problemáticas (Centro e Nova Iguaçu Centro) conseguiram contrariar o pessimismo inicial, duplicando o seu volume de faturamento no período. A introdução bem-sucedida de Copacabana Premium em 2025 reforça a expansão do portifólio para o segmento de luxo, restando agora à gestão comercial otimizar a taxa de ocupação destas novas apostas para acompanhar o ritmo de crescimento da rede.</a:t>
            </a:r>
          </a:p>
        </p:txBody>
      </p:sp>
    </p:spTree>
    <p:extLst>
      <p:ext uri="{BB962C8B-B14F-4D97-AF65-F5344CB8AC3E}">
        <p14:creationId xmlns:p14="http://schemas.microsoft.com/office/powerpoint/2010/main" val="1726184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07D5D45D-5CCA-AE2A-91C8-A786752BC7F7}"/>
              </a:ext>
            </a:extLst>
          </p:cNvPr>
          <p:cNvSpPr txBox="1"/>
          <p:nvPr/>
        </p:nvSpPr>
        <p:spPr>
          <a:xfrm>
            <a:off x="1187116" y="1859339"/>
            <a:ext cx="10202779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Crescimento Consistente</a:t>
            </a:r>
          </a:p>
          <a:p>
            <a:endParaRPr lang="pt-B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Tendência de Alta (2023–2025): A rede apresentou um crescimento sólido e sustentável nos primeiros três anos analisados. O volume de reservas subiu de 1.234 (2023) para 1.356 (2025), e a faturação total acompanhou essa subida, saltando de R$ 2,56 milhões para R$ 2,81 milhões.</a:t>
            </a:r>
          </a:p>
          <a:p>
            <a:br>
              <a:rPr lang="pt-B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pt-B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 Efeito do Ano Corrente (2026): Os números de 2026 (836 reservas e R$ 1,76 milhões) refletem um período parcial (dados contabilizados até setembro). Esta redução não representa uma quebra estrutural do negócio, mas sim um retrato incompleto do ano em curso.</a:t>
            </a:r>
          </a:p>
        </p:txBody>
      </p:sp>
    </p:spTree>
    <p:extLst>
      <p:ext uri="{BB962C8B-B14F-4D97-AF65-F5344CB8AC3E}">
        <p14:creationId xmlns:p14="http://schemas.microsoft.com/office/powerpoint/2010/main" val="361048068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Madison">
      <a:dk1>
        <a:sysClr val="windowText" lastClr="000000"/>
      </a:dk1>
      <a:lt1>
        <a:sysClr val="window" lastClr="FFFFFF"/>
      </a:lt1>
      <a:dk2>
        <a:srgbClr val="1F2D29"/>
      </a:dk2>
      <a:lt2>
        <a:srgbClr val="C5FAEB"/>
      </a:lt2>
      <a:accent1>
        <a:srgbClr val="A1D68B"/>
      </a:accent1>
      <a:accent2>
        <a:srgbClr val="5EC795"/>
      </a:accent2>
      <a:accent3>
        <a:srgbClr val="4DADCF"/>
      </a:accent3>
      <a:accent4>
        <a:srgbClr val="CDB756"/>
      </a:accent4>
      <a:accent5>
        <a:srgbClr val="E29C36"/>
      </a:accent5>
      <a:accent6>
        <a:srgbClr val="8EC0C1"/>
      </a:accent6>
      <a:hlink>
        <a:srgbClr val="6D9D9B"/>
      </a:hlink>
      <a:folHlink>
        <a:srgbClr val="6D8583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6AC10936-2DFC-4054-9ADF-B5E2C5F8619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{A38CB450-125F-4BC0-80AF-E1523A79BC7E}TF37254b02-f5b5-44b0-803d-e6af9466a02417627056-1f29dbaacecc</Template>
  <TotalTime>58</TotalTime>
  <Words>781</Words>
  <Application>Microsoft Office PowerPoint</Application>
  <PresentationFormat>Widescreen</PresentationFormat>
  <Paragraphs>32</Paragraphs>
  <Slides>10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6" baseType="lpstr">
      <vt:lpstr>Arial</vt:lpstr>
      <vt:lpstr>Consolas</vt:lpstr>
      <vt:lpstr>MS Shell Dlg 2</vt:lpstr>
      <vt:lpstr>Wingdings</vt:lpstr>
      <vt:lpstr>Wingdings 3</vt:lpstr>
      <vt:lpstr>Madison</vt:lpstr>
      <vt:lpstr>Nara Hoteis</vt:lpstr>
      <vt:lpstr>O faturamento da rede está concentrado nas praças de lazer (Serra e Costa Verde ) com diárias altas. O principal desafio comercial é reavaliar o modelo de precificação das unidades centrais (Centro e Nova Iguaçu) e acelerar a tração de ocupação da recém-inaugurada Copacabana Premium ( que se destaca positivamente no valor da diária) para capitalizar o seu alto valor de diária.</vt:lpstr>
      <vt:lpstr>Unidades operando além de sua capacidade</vt:lpstr>
      <vt:lpstr>Desempenho e Discrepâncias por Unidade</vt:lpstr>
      <vt:lpstr>Relação RevPar vs Avaliação dos hospedes</vt:lpstr>
      <vt:lpstr>É possível estimar o RevPar por uma avaliação media?</vt:lpstr>
      <vt:lpstr>Regiões com maior variabilidade de faturamento</vt:lpstr>
      <vt:lpstr>Copacabana Premium!</vt:lpstr>
      <vt:lpstr>Situação da rede Nara Hotel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TORRES DA CUNHA CAMPOS</dc:creator>
  <cp:lastModifiedBy>ROBERT TORRES DA CUNHA CAMPOS</cp:lastModifiedBy>
  <cp:revision>1</cp:revision>
  <dcterms:created xsi:type="dcterms:W3CDTF">2026-09-21T22:31:46Z</dcterms:created>
  <dcterms:modified xsi:type="dcterms:W3CDTF">2026-09-21T23:29:47Z</dcterms:modified>
</cp:coreProperties>
</file>