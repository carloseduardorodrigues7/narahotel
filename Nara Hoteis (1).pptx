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8" r:id="rId2"/>
    <p:sldId id="257" r:id="rId3"/>
    <p:sldId id="266" r:id="rId4"/>
    <p:sldId id="258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0" y="5762625"/>
            <a:ext cx="3048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762000"/>
            <a:ext cx="5334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Inter"/>
              </a:rPr>
              <a:t>PROJETO NARA HOTEL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152525"/>
            <a:ext cx="4900612" cy="140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sz="4000" b="1" i="0" u="none" dirty="0" err="1">
                <a:solidFill>
                  <a:srgbClr val="F0FDF4"/>
                </a:solidFill>
                <a:latin typeface="Playfair Display"/>
              </a:rPr>
              <a:t>Avaliação</a:t>
            </a:r>
            <a:r>
              <a:rPr sz="4000" b="1" i="0" u="none" dirty="0">
                <a:solidFill>
                  <a:srgbClr val="F0FDF4"/>
                </a:solidFill>
                <a:latin typeface="Playfair Display"/>
              </a:rPr>
              <a:t> da Rede</a:t>
            </a:r>
            <a:r>
              <a:rPr lang="pt-BR" sz="4000" b="1" i="0" u="none" dirty="0">
                <a:solidFill>
                  <a:srgbClr val="F0FDF4"/>
                </a:solidFill>
                <a:latin typeface="Playfair Display"/>
              </a:rPr>
              <a:t> Nara Hotel</a:t>
            </a:r>
            <a:endParaRPr sz="4000" b="1" i="0" u="none" dirty="0">
              <a:solidFill>
                <a:srgbClr val="F0FDF4"/>
              </a:solidFill>
              <a:latin typeface="Playfair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0" y="2783085"/>
            <a:ext cx="4286250" cy="522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 err="1">
                <a:solidFill>
                  <a:srgbClr val="A7F3D0"/>
                </a:solidFill>
                <a:latin typeface="Inter"/>
              </a:rPr>
              <a:t>Diagnóstico</a:t>
            </a:r>
            <a:r>
              <a:rPr sz="1500" b="0" i="0" u="none" dirty="0">
                <a:solidFill>
                  <a:srgbClr val="A7F3D0"/>
                </a:solidFill>
                <a:latin typeface="Inter"/>
              </a:rPr>
              <a:t> de performance, </a:t>
            </a:r>
            <a:r>
              <a:rPr lang="pt-BR" sz="1500" b="0" i="0" u="none" dirty="0">
                <a:solidFill>
                  <a:srgbClr val="A7F3D0"/>
                </a:solidFill>
                <a:latin typeface="Inter"/>
              </a:rPr>
              <a:t>tendencia</a:t>
            </a:r>
            <a:r>
              <a:rPr sz="1500" b="0" i="0" u="none" dirty="0">
                <a:solidFill>
                  <a:srgbClr val="A7F3D0"/>
                </a:solidFill>
                <a:latin typeface="Inter"/>
              </a:rPr>
              <a:t> e </a:t>
            </a:r>
            <a:r>
              <a:rPr sz="1500" b="0" i="0" u="none" dirty="0" err="1">
                <a:solidFill>
                  <a:srgbClr val="A7F3D0"/>
                </a:solidFill>
                <a:latin typeface="Inter"/>
              </a:rPr>
              <a:t>recomendações</a:t>
            </a:r>
            <a:r>
              <a:rPr sz="1500" b="0" i="0" u="none" dirty="0">
                <a:solidFill>
                  <a:srgbClr val="A7F3D0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5934075"/>
            <a:ext cx="97943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6EE7B7"/>
                </a:solidFill>
                <a:latin typeface="Inter"/>
              </a:rPr>
              <a:t>Comitê</a:t>
            </a:r>
            <a:r>
              <a:rPr sz="1050" b="0" i="0" u="none" dirty="0">
                <a:solidFill>
                  <a:srgbClr val="6EE7B7"/>
                </a:solidFill>
                <a:latin typeface="Inter"/>
              </a:rPr>
              <a:t> </a:t>
            </a:r>
            <a:r>
              <a:rPr sz="1050" b="0" i="0" u="none" dirty="0" err="1">
                <a:solidFill>
                  <a:srgbClr val="6EE7B7"/>
                </a:solidFill>
                <a:latin typeface="Inter"/>
              </a:rPr>
              <a:t>Executivo</a:t>
            </a:r>
            <a:r>
              <a:rPr sz="1050" b="0" i="0" u="none" dirty="0">
                <a:solidFill>
                  <a:srgbClr val="6EE7B7"/>
                </a:solidFill>
                <a:latin typeface="Inter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4D1437-A925-45C8-6C79-1AE3286CD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277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DFBC387-E7E3-D274-9F9E-59492CAF3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02" y="5115024"/>
            <a:ext cx="10169818" cy="1077229"/>
          </a:xfrm>
        </p:spPr>
        <p:txBody>
          <a:bodyPr>
            <a:noAutofit/>
          </a:bodyPr>
          <a:lstStyle/>
          <a:p>
            <a:pPr algn="ctr"/>
            <a:r>
              <a:rPr lang="pt-B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 faturamento da rede está concentrado nas praças de lazer (Paraty, Friburgo, mangaritiba), com diárias altas. O principal desafio comercial é reavaliar o modelo de precificação das unidades centrais (Centro e Nova Iguaçu) e acelerar a tração de ocupação da recém-inaugurada Copacabana Premium ( que se destaca positivamente no valor da diária) para capitalizar o seu alto valor de diária.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5137C3B-58A7-9F09-402F-EC9ED6EAC9DB}"/>
              </a:ext>
            </a:extLst>
          </p:cNvPr>
          <p:cNvSpPr txBox="1">
            <a:spLocks/>
          </p:cNvSpPr>
          <p:nvPr/>
        </p:nvSpPr>
        <p:spPr>
          <a:xfrm>
            <a:off x="1011091" y="5115024"/>
            <a:ext cx="10169818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A52D85C-1CF9-37AA-2948-E53A3A60C86A}"/>
              </a:ext>
            </a:extLst>
          </p:cNvPr>
          <p:cNvSpPr txBox="1">
            <a:spLocks/>
          </p:cNvSpPr>
          <p:nvPr/>
        </p:nvSpPr>
        <p:spPr>
          <a:xfrm>
            <a:off x="1109446" y="127133"/>
            <a:ext cx="10169818" cy="8511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200" dirty="0">
                <a:solidFill>
                  <a:srgbClr val="CCCCCC"/>
                </a:solidFill>
                <a:latin typeface="Consolas" panose="020B0609020204030204" pitchFamily="49" charset="0"/>
              </a:rPr>
              <a:t>Faturamento total e comportamento das diárias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71C15F-EA90-36A6-DC74-E4964E19C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6" y="1144700"/>
            <a:ext cx="9608894" cy="358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820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722F0272-3878-4604-AA91-01CA8F08D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F60EAEC-22E3-4448-8F0A-9ADAA793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355E0F90-3FFF-4E04-B3C8-3C969A415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63A4EF-A033-4ED0-9EB6-6E1A8D26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4965EE-80F2-417F-9652-5BFF14DA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3C9611-CFD7-4C23-A8F2-00E7865A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926BDB-98EF-43B0-A66B-1A6EF8FB2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722A754-56A5-43DA-ADE3-C2704FABA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" y="0"/>
            <a:ext cx="12189867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0FADDEF-2C10-4B0B-868E-6A655B67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chemeClr val="accent1"/>
            </a:solidFill>
            <a:miter lim="800000"/>
          </a:ln>
          <a:effectLst>
            <a:outerShdw blurRad="762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40E6B-2046-D02E-EA9E-CE21303D5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67" y="675470"/>
            <a:ext cx="10905066" cy="550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23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96AFA90-1DF2-427D-B002-A09D93A15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05602A8-6E8C-46E5-8FDD-2BC227550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B2E129B-3512-41A6-94F1-4B4FEA817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891C00A1-D917-4D03-B713-9881557CE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BA3F0C2-72FC-4945-8B22-3BE47B397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10D66C-3847-4B32-B505-01B23358B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830E43-EAF9-E45B-E70C-F4C72462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4445" y="808056"/>
            <a:ext cx="2668106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200"/>
              <a:t>Unidades operando além de sua capacidade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82475B5-D788-F28D-8D5E-E7EF9AF2A2B9}"/>
              </a:ext>
            </a:extLst>
          </p:cNvPr>
          <p:cNvSpPr txBox="1">
            <a:spLocks/>
          </p:cNvSpPr>
          <p:nvPr/>
        </p:nvSpPr>
        <p:spPr>
          <a:xfrm>
            <a:off x="1964444" y="2052116"/>
            <a:ext cx="2664217" cy="3997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>
                <a:latin typeface="+mn-lt"/>
                <a:ea typeface="+mn-ea"/>
                <a:cs typeface="+mn-cs"/>
              </a:rPr>
              <a:t>Unidades Centro e Nova Iguaçu apresentam uma porcentagem de superlotação.</a:t>
            </a:r>
            <a:br>
              <a:rPr lang="en-US" sz="1600">
                <a:latin typeface="+mn-lt"/>
                <a:ea typeface="+mn-ea"/>
                <a:cs typeface="+mn-cs"/>
              </a:rPr>
            </a:br>
            <a:r>
              <a:rPr lang="en-US" sz="1600">
                <a:latin typeface="+mn-lt"/>
                <a:ea typeface="+mn-ea"/>
                <a:cs typeface="+mn-cs"/>
              </a:rPr>
              <a:t>São unidades que caracterizam um giro alto, operação pesada e faturamento médio baixo.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600">
                <a:latin typeface="+mn-lt"/>
                <a:ea typeface="+mn-ea"/>
                <a:cs typeface="+mn-cs"/>
              </a:rPr>
              <a:t>Refletindo em uma avaliação de experiência do cliente baixa, veremos a seguir...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3DB4DB-4F6A-4E8D-B9A3-74E5A8453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4647" y="0"/>
            <a:ext cx="594354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7200DD-7AC0-3675-C220-1DC329EC2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967" y="923580"/>
            <a:ext cx="5305220" cy="1737459"/>
          </a:xfrm>
          <a:prstGeom prst="rect">
            <a:avLst/>
          </a:prstGeom>
          <a:ln w="12700">
            <a:noFill/>
          </a:ln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431FCBDC-FCD6-46FA-989A-9B7496896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2490" y="232459"/>
            <a:ext cx="5446447" cy="3114340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A2B240-B976-B6C8-8899-3241F8E8A5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7967" y="4214998"/>
            <a:ext cx="5305219" cy="1684407"/>
          </a:xfrm>
          <a:prstGeom prst="rect">
            <a:avLst/>
          </a:prstGeom>
          <a:ln w="12700">
            <a:noFill/>
          </a:ln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C66EB2AB-6794-4C3C-A92D-4876AB0BE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2490" y="3500835"/>
            <a:ext cx="5446447" cy="3114340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34BD4E6-C736-4064-AF1F-3C5B402E1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70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22F0272-3878-4604-AA91-01CA8F08D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60EAEC-22E3-4448-8F0A-9ADAA793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5E0F90-3FFF-4E04-B3C8-3C969A415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63A4EF-A033-4ED0-9EB6-6E1A8D26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4965EE-80F2-417F-9652-5BFF14DA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3C9611-CFD7-4C23-A8F2-00E7865A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926BDB-98EF-43B0-A66B-1A6EF8FB2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722A754-56A5-43DA-ADE3-C2704FABA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" y="0"/>
            <a:ext cx="12189867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0FADDEF-2C10-4B0B-868E-6A655B67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chemeClr val="accent1"/>
            </a:solidFill>
            <a:miter lim="800000"/>
          </a:ln>
          <a:effectLst>
            <a:outerShdw blurRad="762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52572-E467-47DA-B920-9D49CD8BE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758" y="643467"/>
            <a:ext cx="944248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04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D1E74-D264-C4D0-B88F-4096772B4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82" y="26503"/>
            <a:ext cx="10302086" cy="583098"/>
          </a:xfrm>
        </p:spPr>
        <p:txBody>
          <a:bodyPr/>
          <a:lstStyle/>
          <a:p>
            <a:pPr algn="ctr"/>
            <a:r>
              <a:rPr lang="pt-BR" dirty="0"/>
              <a:t>Desempenho e Discrepâncias por Unidade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871ABBF-47AD-4D17-E10B-3D6786B46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3104" y="755381"/>
            <a:ext cx="8665792" cy="3696903"/>
          </a:xfr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4B0FCDF-2528-9E1C-7114-4EE0E7CB0C53}"/>
              </a:ext>
            </a:extLst>
          </p:cNvPr>
          <p:cNvSpPr txBox="1"/>
          <p:nvPr/>
        </p:nvSpPr>
        <p:spPr>
          <a:xfrm>
            <a:off x="1039682" y="4853800"/>
            <a:ext cx="103020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⚠️ Unidades Centro (Alto Esforço, Baixo Retorno): Lideram no volume de reservas (424 a 478), mas possuem o pior Faturamento Médio (cerca de R$ 1.000), indicando muito trabalho para pouca rentabilidade.</a:t>
            </a:r>
          </a:p>
          <a:p>
            <a:endParaRPr lang="pt-BR" sz="1200" dirty="0"/>
          </a:p>
          <a:p>
            <a:r>
              <a:rPr lang="pt-BR" sz="1200" dirty="0"/>
              <a:t>📈 Copacabana Premium (Em Maturação): Faturamento Total é o menor da rede devido à falta de volume (apenas 130 reservas, por ser recém-inaugurada), mas o Faturamento Médio é excelente (R$ 2.296).</a:t>
            </a:r>
          </a:p>
          <a:p>
            <a:endParaRPr lang="pt-BR" sz="1200" dirty="0"/>
          </a:p>
          <a:p>
            <a:r>
              <a:rPr lang="pt-BR" sz="1200" dirty="0"/>
              <a:t>🏆 Ecossistema de Lazer (Padrão de Sucesso): Paraty, Friburgo e Mangaratiba são o modelo ideal de negócios da rede. Elas equilibram um volume saudável (350 a 380 reservas) com Faturamentos Médios altos e robustos (acima de R$ 2.300).</a:t>
            </a:r>
          </a:p>
        </p:txBody>
      </p:sp>
    </p:spTree>
    <p:extLst>
      <p:ext uri="{BB962C8B-B14F-4D97-AF65-F5344CB8AC3E}">
        <p14:creationId xmlns:p14="http://schemas.microsoft.com/office/powerpoint/2010/main" val="4219917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D7E45EB-2082-42A1-A5FC-6D53F21DB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A5C072-919B-4308-A48B-96DC0CBF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F74E2F-7C51-4D72-96BA-528A50748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B61F797-14BD-476F-B569-140E96CB6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0235D8-BAC3-4440-8A9B-43D98243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F2FD5C-3192-4646-91D2-C907BDC4C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70488B-72F7-60A7-D545-889CA28F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3" y="808056"/>
            <a:ext cx="8608037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Relação RevPar vs Avaliação dos hospedes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EDA6DE-9BE4-480B-C366-CB95B4FAE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103" y="2206114"/>
            <a:ext cx="6053655" cy="3632192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1A9E4208-8518-E942-DDCC-4A8054602EFF}"/>
              </a:ext>
            </a:extLst>
          </p:cNvPr>
          <p:cNvSpPr txBox="1">
            <a:spLocks/>
          </p:cNvSpPr>
          <p:nvPr/>
        </p:nvSpPr>
        <p:spPr>
          <a:xfrm>
            <a:off x="7286175" y="2052116"/>
            <a:ext cx="3289986" cy="39978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1800">
                <a:latin typeface="+mn-lt"/>
                <a:ea typeface="+mn-ea"/>
                <a:cs typeface="+mn-cs"/>
              </a:rPr>
              <a:t>Existe uma relação entre a avaliação e o RevPar, mas não forte suficiente para uma analise preditiva. Existem unidades com boa avaliação e faturamento reduzido.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564258-BA63-4452-B6A7-27E3497D9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99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7CB5F-9BB5-6011-E196-9D7406A2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724" y="0"/>
            <a:ext cx="10302087" cy="1077229"/>
          </a:xfrm>
        </p:spPr>
        <p:txBody>
          <a:bodyPr/>
          <a:lstStyle/>
          <a:p>
            <a:pPr algn="ctr"/>
            <a:r>
              <a:rPr lang="pt-BR" dirty="0"/>
              <a:t>É possível estimar o </a:t>
            </a:r>
            <a:r>
              <a:rPr lang="pt-BR" dirty="0" err="1"/>
              <a:t>RevPar</a:t>
            </a:r>
            <a:r>
              <a:rPr lang="pt-BR" dirty="0"/>
              <a:t> por uma avaliação media?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8D1340-A4DC-97C2-E75F-A74AA565A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188" y="1237651"/>
            <a:ext cx="7077623" cy="4115728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95F0450-2D64-69A7-D6A5-DBA21E541E47}"/>
              </a:ext>
            </a:extLst>
          </p:cNvPr>
          <p:cNvSpPr txBox="1">
            <a:spLocks/>
          </p:cNvSpPr>
          <p:nvPr/>
        </p:nvSpPr>
        <p:spPr>
          <a:xfrm>
            <a:off x="944955" y="5567539"/>
            <a:ext cx="10302087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 base nos dados históricos, não é possível prever o </a:t>
            </a:r>
            <a:r>
              <a:rPr lang="pt-B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RevPAR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 forma segura usando apenas a nota de avaliação. Embora o ecossistema de lazer prove que notas altas impulsionam o faturamento, anomalias comerciais graves na rede (como o baixo volume na Barra da Tijuca e o modelo de alto giro/baixa qualidade no Centro) quebram essa correlação direta.</a:t>
            </a:r>
          </a:p>
        </p:txBody>
      </p:sp>
    </p:spTree>
    <p:extLst>
      <p:ext uri="{BB962C8B-B14F-4D97-AF65-F5344CB8AC3E}">
        <p14:creationId xmlns:p14="http://schemas.microsoft.com/office/powerpoint/2010/main" val="1034901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B6B18B-1DDA-8300-5F0E-3B3BE26AB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521"/>
            <a:ext cx="12192001" cy="680733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3C0739-D601-8BD2-0D23-6C0B1DE9F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97" y="43146"/>
            <a:ext cx="10350214" cy="678750"/>
          </a:xfrm>
        </p:spPr>
        <p:txBody>
          <a:bodyPr/>
          <a:lstStyle/>
          <a:p>
            <a:pPr algn="ctr"/>
            <a:r>
              <a:rPr lang="pt-BR" dirty="0"/>
              <a:t>Regiões com maior variabilidade de faturamento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3145AFC-BF8F-7C5B-C073-AD9988480A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95229" y="870651"/>
            <a:ext cx="9001542" cy="4455308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AB4746A3-96A8-A7D8-1346-4CD183E54743}"/>
              </a:ext>
            </a:extLst>
          </p:cNvPr>
          <p:cNvSpPr txBox="1">
            <a:spLocks/>
          </p:cNvSpPr>
          <p:nvPr/>
        </p:nvSpPr>
        <p:spPr>
          <a:xfrm>
            <a:off x="920892" y="5490620"/>
            <a:ext cx="10350214" cy="993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400" b="1" dirty="0"/>
              <a:t>Serra e Costa Verde (Alta Variabilidade):</a:t>
            </a:r>
            <a:r>
              <a:rPr lang="pt-BR" sz="1400" dirty="0"/>
              <a:t> Apresentam as maiores variações, com picos de faturamento batendo R$ 10.000 a R$ 12.000</a:t>
            </a:r>
          </a:p>
          <a:p>
            <a:pPr algn="ctr"/>
            <a:r>
              <a:rPr lang="pt-BR" sz="1400" b="1" dirty="0"/>
              <a:t>Capital (Giro Rápido e Eficiência):</a:t>
            </a:r>
            <a:r>
              <a:rPr lang="pt-BR" sz="1400" dirty="0"/>
              <a:t> Possui um volume gigante de reservas com menor variação de preços, focado em um hóspede de perfil prático (trabalho/estadias curtas)</a:t>
            </a:r>
          </a:p>
          <a:p>
            <a:pPr algn="ctr"/>
            <a:r>
              <a:rPr lang="pt-BR" sz="1400" b="1" dirty="0"/>
              <a:t>Baixada Fluminense (Necessidade de Inovação):</a:t>
            </a:r>
            <a:r>
              <a:rPr lang="pt-BR" sz="1400" dirty="0"/>
              <a:t> Apresenta a menor média de gastos, com o cliente consumindo estritamente o quarto básico.</a:t>
            </a:r>
            <a:endParaRPr lang="pt-B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86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EB491C-81C1-CB5E-6263-4009A5FED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34"/>
            <a:ext cx="12192000" cy="683216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1B0F3F-E479-029F-CB95-B9DD5A4ED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695" y="269441"/>
            <a:ext cx="10266947" cy="1077229"/>
          </a:xfrm>
        </p:spPr>
        <p:txBody>
          <a:bodyPr/>
          <a:lstStyle/>
          <a:p>
            <a:pPr algn="ctr"/>
            <a:r>
              <a:rPr lang="pt-BR" dirty="0"/>
              <a:t>Copacabana Premium!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BFD566-B91A-BC6C-B009-501A6E421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789" y="1346670"/>
            <a:ext cx="9126350" cy="4703274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Diagnóstico: Copacabana Premium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💎 </a:t>
            </a:r>
            <a:r>
              <a:rPr lang="pt-BR" b="1" dirty="0"/>
              <a:t>Preço Validado:</a:t>
            </a:r>
            <a:r>
              <a:rPr lang="pt-BR" dirty="0"/>
              <a:t> O mercado aceitou o posicionamento de luxo (5 estrelas), sustentando uma alta mediana de faturamento (R$ 1.900 por reserva) sem depreciar a diária.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📉 </a:t>
            </a:r>
            <a:r>
              <a:rPr lang="pt-BR" b="1" dirty="0"/>
              <a:t>Gargalo de Volume:</a:t>
            </a:r>
            <a:r>
              <a:rPr lang="pt-BR" dirty="0"/>
              <a:t> Por ser recém-inaugurada, a unidade sofre com baixíssima tração (apenas 130 reservas). Isso derruba o </a:t>
            </a:r>
            <a:r>
              <a:rPr lang="pt-BR" dirty="0" err="1"/>
              <a:t>RevPAR</a:t>
            </a:r>
            <a:r>
              <a:rPr lang="pt-BR" dirty="0"/>
              <a:t> e indica que o hotel é caro, mas vive de quartos vazios.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⚠️ </a:t>
            </a:r>
            <a:r>
              <a:rPr lang="pt-BR" b="1" dirty="0"/>
              <a:t>Alerta na Avaliação:</a:t>
            </a:r>
            <a:r>
              <a:rPr lang="pt-BR" dirty="0"/>
              <a:t> A nota média de 7,08 é perigosa para um produto "Premium". O hóspede paga um preço alto, mas sente que a entrega da operação não justifica o custo (em comparação com as unidades de lazer que beiram a nota 8,0).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7930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9E1E62-C121-C1AB-D341-D2BDAAEE4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0306CEA-0369-FFDE-DC16-94B044D02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724" y="0"/>
            <a:ext cx="10302087" cy="1077229"/>
          </a:xfrm>
        </p:spPr>
        <p:txBody>
          <a:bodyPr/>
          <a:lstStyle/>
          <a:p>
            <a:pPr algn="ctr"/>
            <a:r>
              <a:rPr lang="pt-BR" dirty="0"/>
              <a:t>Situação da rede Nara Hotel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30E1C5E-F29A-F0F2-4988-6B4DEDAD4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3941" y="803187"/>
            <a:ext cx="7344038" cy="4212859"/>
          </a:xfr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AC33DB3-D50A-F270-E5B1-C4E19919BF6E}"/>
              </a:ext>
            </a:extLst>
          </p:cNvPr>
          <p:cNvSpPr txBox="1"/>
          <p:nvPr/>
        </p:nvSpPr>
        <p:spPr>
          <a:xfrm>
            <a:off x="1055723" y="5149840"/>
            <a:ext cx="1030208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rede Nara </a:t>
            </a:r>
            <a:r>
              <a:rPr lang="pt-BR" sz="1400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Hoteis</a:t>
            </a:r>
            <a:r>
              <a:rPr lang="pt-BR" sz="14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demonstrou uma trajetória de crescimento saudável e contínua entre 2023 e 2025. As unidades historicamente tidas como problemáticas (Centro e Nova Iguaçu Centro) conseguiram contrariar o pessimismo inicial, duplicando o seu volume de faturamento no período. A introdução bem-sucedida de Copacabana Premium em 2025 reforça a expansão do portifólio para o segmento de luxo, restando agora à gestão comercial otimizar a taxa de ocupação destas novas apostas para acompanhar o ritmo de crescimento da rede.</a:t>
            </a:r>
          </a:p>
        </p:txBody>
      </p:sp>
    </p:spTree>
    <p:extLst>
      <p:ext uri="{BB962C8B-B14F-4D97-AF65-F5344CB8AC3E}">
        <p14:creationId xmlns:p14="http://schemas.microsoft.com/office/powerpoint/2010/main" val="1726184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D97731-314F-022C-FA66-851564971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6495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7D5D45D-5CCA-AE2A-91C8-A786752BC7F7}"/>
              </a:ext>
            </a:extLst>
          </p:cNvPr>
          <p:cNvSpPr txBox="1"/>
          <p:nvPr/>
        </p:nvSpPr>
        <p:spPr>
          <a:xfrm>
            <a:off x="1187116" y="1859339"/>
            <a:ext cx="102027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Crescimento Consistente</a:t>
            </a:r>
          </a:p>
          <a:p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Tendência de Alta (2023–2025): A rede apresentou um crescimento sólido e sustentável nos primeiros três anos analisados. O volume de reservas subiu de 1.234 (2023) para 1.356 (2025), e a faturação total acompanhou essa subida, saltando de R$ 2,56 milhões para R$ 2,81 milhões.</a:t>
            </a:r>
          </a:p>
          <a:p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 Efeito do Ano Corrente (2026): Os números de 2026 (836 reservas e R$ 1,76 milhões) refletem um período parcial (dados contabilizados até setembro). Esta redução não representa uma quebra estrutural do negócio, mas sim um retrato incompleto do ano em curso. </a:t>
            </a:r>
          </a:p>
        </p:txBody>
      </p:sp>
    </p:spTree>
    <p:extLst>
      <p:ext uri="{BB962C8B-B14F-4D97-AF65-F5344CB8AC3E}">
        <p14:creationId xmlns:p14="http://schemas.microsoft.com/office/powerpoint/2010/main" val="36104806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{A38CB450-125F-4BC0-80AF-E1523A79BC7E}TF37254b02-f5b5-44b0-803d-e6af9466a02417627056-1f29dbaacecc</Template>
  <TotalTime>79</TotalTime>
  <Words>795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Arial</vt:lpstr>
      <vt:lpstr>Consolas</vt:lpstr>
      <vt:lpstr>Inter</vt:lpstr>
      <vt:lpstr>MS Shell Dlg 2</vt:lpstr>
      <vt:lpstr>Playfair Display</vt:lpstr>
      <vt:lpstr>Wingdings</vt:lpstr>
      <vt:lpstr>Wingdings 3</vt:lpstr>
      <vt:lpstr>Madison</vt:lpstr>
      <vt:lpstr>Apresentação do PowerPoint</vt:lpstr>
      <vt:lpstr>O faturamento da rede está concentrado nas praças de lazer (Paraty, Friburgo, mangaritiba), com diárias altas. O principal desafio comercial é reavaliar o modelo de precificação das unidades centrais (Centro e Nova Iguaçu) e acelerar a tração de ocupação da recém-inaugurada Copacabana Premium ( que se destaca positivamente no valor da diária) para capitalizar o seu alto valor de diária.</vt:lpstr>
      <vt:lpstr>Apresentação do PowerPoint</vt:lpstr>
      <vt:lpstr>Unidades operando além de sua capacidade</vt:lpstr>
      <vt:lpstr>Apresentação do PowerPoint</vt:lpstr>
      <vt:lpstr>Desempenho e Discrepâncias por Unidade</vt:lpstr>
      <vt:lpstr>Relação RevPar vs Avaliação dos hospedes</vt:lpstr>
      <vt:lpstr>É possível estimar o RevPar por uma avaliação media?</vt:lpstr>
      <vt:lpstr>Regiões com maior variabilidade de faturamento</vt:lpstr>
      <vt:lpstr>Copacabana Premium!</vt:lpstr>
      <vt:lpstr>Situação da rede Nara Hotel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TORRES DA CUNHA CAMPOS</dc:creator>
  <cp:lastModifiedBy>ROBERT TORRES DA CUNHA CAMPOS</cp:lastModifiedBy>
  <cp:revision>3</cp:revision>
  <dcterms:created xsi:type="dcterms:W3CDTF">2026-09-21T22:31:46Z</dcterms:created>
  <dcterms:modified xsi:type="dcterms:W3CDTF">2026-09-23T21:22:19Z</dcterms:modified>
</cp:coreProperties>
</file>